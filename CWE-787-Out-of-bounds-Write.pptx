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template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9" r:id="rId5"/>
    <p:sldId id="260" r:id="rId6"/>
    <p:sldId id="261" r:id="rId17"/>
    <p:sldId id="262" r:id="rId18"/>
    <p:sldId id="263" r:id="rId7"/>
    <p:sldId id="264" r:id="rId8"/>
    <p:sldId id="265" r:id="rId9"/>
    <p:sldId id="266" r:id="rId19"/>
    <p:sldId id="267" r:id="rId10"/>
    <p:sldId id="268" r:id="rId21"/>
  </p:sldIdLst>
  <p:sldSz cx="12192000" cy="6858000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mbre del Punto" id="{B5B95F0C-5173-4023-9D0D-06A708917213}">
          <p14:sldIdLst>
            <p14:sldId id="259"/>
            <p14:sldId id="310"/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7B495-6B6F-2486-5C2C-42C6FB0CFC23}" v="245" dt="2026-08-15T23:25:31.468"/>
    <p1510:client id="{C399E4A8-BBD8-BE71-0596-789DB10B13AF}" v="17" dt="2026-08-15T21:38:00.066"/>
    <p1510:client id="{DC5A9C09-2E68-1404-2BE8-D5D4F80FA032}" v="6" dt="2026-08-15T23:17:05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  <Relationship Id="rId17" Type="http://schemas.openxmlformats.org/officeDocument/2006/relationships/slide" Target="slides/slide7.xml"/>
  <Relationship Id="rId18" Type="http://schemas.openxmlformats.org/officeDocument/2006/relationships/slide" Target="slides/slide8.xml"/>
  <Relationship Id="rId19" Type="http://schemas.openxmlformats.org/officeDocument/2006/relationships/slide" Target="slides/slide9.xml"/>
  
  <Relationship Id="rId21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63A25-737D-45C4-8237-2D50875A0638}" type="datetimeFigureOut">
              <a:rPr lang="es-UY" smtClean="0"/>
              <a:t>15/8/2026</a:t>
            </a:fld>
            <a:endParaRPr lang="es-U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AE46B-1B9D-4E25-8FD8-0FC7AA498EC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3105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>
              <a:highlight>
                <a:srgbClr val="FFFFFF"/>
              </a:highlight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AE46B-1B9D-4E25-8FD8-0FC7AA498ECF}" type="slidenum">
              <a:rPr lang="es-UY" smtClean="0"/>
              <a:t>1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03216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68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Y" dirty="0"/>
              <a:t>Aquí se pone punto a </a:t>
            </a:r>
            <a:r>
              <a:rPr lang="es-UY" dirty="0" err="1"/>
              <a:t>punt</a:t>
            </a:r>
            <a:r>
              <a:rPr lang="es-UY"/>
              <a:t>o los detalles de la demo</a:t>
            </a:r>
            <a:endParaRPr lang="es-U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332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372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7D77-251F-FB4C-17CA-2C7C84F5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3E01B-286C-AD8A-FC70-E175008E7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2A113-7BB0-A5BA-ECF5-A356F5996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C485-7743-03C9-785D-DA4E76CE9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510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25799"/>
            <a:ext cx="9144000" cy="990216"/>
          </a:xfrm>
        </p:spPr>
        <p:txBody>
          <a:bodyPr anchor="b">
            <a:normAutofit/>
          </a:bodyPr>
          <a:lstStyle>
            <a:lvl1pPr algn="ctr">
              <a:defRPr sz="5000" baseline="0">
                <a:solidFill>
                  <a:schemeClr val="bg1"/>
                </a:solidFill>
                <a:latin typeface="Gill Sans" panose="020B0602020204020204" pitchFamily="34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824705"/>
            <a:ext cx="9144000" cy="662152"/>
          </a:xfrm>
        </p:spPr>
        <p:txBody>
          <a:bodyPr>
            <a:noAutofit/>
          </a:bodyPr>
          <a:lstStyle>
            <a:lvl1pPr marL="0" indent="0" algn="ctr">
              <a:buNone/>
              <a:defRPr sz="2600" baseline="0">
                <a:solidFill>
                  <a:schemeClr val="bg1"/>
                </a:solidFill>
                <a:latin typeface="Gill Sans" panose="020B0602020204020204"/>
                <a:ea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90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301765"/>
            <a:ext cx="6802821" cy="2554013"/>
          </a:xfr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Gill Sans" panose="020B0602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56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468AAE-DF5E-E2E9-084F-8217020E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62" y="136525"/>
            <a:ext cx="11570275" cy="1040765"/>
          </a:xfrm>
        </p:spPr>
        <p:txBody>
          <a:bodyPr>
            <a:normAutofit/>
          </a:bodyPr>
          <a:lstStyle>
            <a:lvl1pPr>
              <a:defRPr sz="2800">
                <a:latin typeface="Gill Sans" panose="020B0602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6E2A41-5D30-D169-A124-067A7B3EA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62" y="1268083"/>
            <a:ext cx="5581291" cy="4787660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77D754F-5ACE-EE71-27BE-A7D174031C3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970113" y="1268082"/>
            <a:ext cx="5911025" cy="4787661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85F0FBA1-852F-98E4-6AB3-5D09E746B2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10862" y="6356350"/>
            <a:ext cx="2743200" cy="365125"/>
          </a:xfrm>
        </p:spPr>
        <p:txBody>
          <a:bodyPr/>
          <a:lstStyle/>
          <a:p>
            <a:pPr>
              <a:defRPr/>
            </a:pPr>
            <a:fld id="{0694217E-8BC5-4DDC-A7B6-FA99388452D0}" type="datetimeFigureOut">
              <a:rPr lang="es-ES" smtClean="0"/>
              <a:pPr>
                <a:defRPr/>
              </a:pPr>
              <a:t>15/08/2026</a:t>
            </a:fld>
            <a:endParaRPr lang="es-E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1A9AF1A-BE77-FC0C-92DF-5E52C4EC83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4183B17B-0854-8B96-1177-1D2FCC3F6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7938" y="6356350"/>
            <a:ext cx="2743200" cy="365125"/>
          </a:xfrm>
        </p:spPr>
        <p:txBody>
          <a:bodyPr/>
          <a:lstStyle/>
          <a:p>
            <a:pPr>
              <a:defRPr/>
            </a:pPr>
            <a:fld id="{11DF6312-B1DF-40E8-9163-B4108E4D7AD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2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Un objeto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468AAE-DF5E-E2E9-084F-8217020E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62" y="136525"/>
            <a:ext cx="11570275" cy="1040765"/>
          </a:xfrm>
        </p:spPr>
        <p:txBody>
          <a:bodyPr>
            <a:normAutofit/>
          </a:bodyPr>
          <a:lstStyle>
            <a:lvl1pPr>
              <a:defRPr sz="2800">
                <a:latin typeface="Gill Sans" panose="020B0602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6E2A41-5D30-D169-A124-067A7B3EA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62" y="1268083"/>
            <a:ext cx="11570275" cy="4804913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85F0FBA1-852F-98E4-6AB3-5D09E746B2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10862" y="6356350"/>
            <a:ext cx="2743200" cy="365125"/>
          </a:xfrm>
        </p:spPr>
        <p:txBody>
          <a:bodyPr/>
          <a:lstStyle/>
          <a:p>
            <a:pPr>
              <a:defRPr/>
            </a:pPr>
            <a:fld id="{0694217E-8BC5-4DDC-A7B6-FA99388452D0}" type="datetimeFigureOut">
              <a:rPr lang="es-ES" smtClean="0"/>
              <a:pPr>
                <a:defRPr/>
              </a:pPr>
              <a:t>15/08/2026</a:t>
            </a:fld>
            <a:endParaRPr lang="es-E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1A9AF1A-BE77-FC0C-92DF-5E52C4EC83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4183B17B-0854-8B96-1177-1D2FCC3F6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7938" y="6356350"/>
            <a:ext cx="2743200" cy="365125"/>
          </a:xfrm>
        </p:spPr>
        <p:txBody>
          <a:bodyPr/>
          <a:lstStyle/>
          <a:p>
            <a:pPr>
              <a:defRPr/>
            </a:pPr>
            <a:fld id="{11DF6312-B1DF-40E8-9163-B4108E4D7AD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26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título del patrón</a:t>
            </a:r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Editar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694217E-8BC5-4DDC-A7B6-FA99388452D0}" type="datetimeFigureOut">
              <a:rPr lang="es-ES"/>
              <a:pPr>
                <a:defRPr/>
              </a:pPr>
              <a:t>15/08/2026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1DF6312-B1DF-40E8-9163-B4108E4D7AD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A6B1D93-CCC0-7B13-5A58-DBC61A4F7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001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	</a:t>
            </a:r>
            <a:endParaRPr kumimoji="0" lang="es-ES" altLang="en-001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9E29807-E77B-1D69-A3C8-F430E07780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00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801" r:id="rId2"/>
    <p:sldLayoutId id="2147483807" r:id="rId3"/>
    <p:sldLayoutId id="2147483817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Gill Sans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25799"/>
            <a:ext cx="9144000" cy="990216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s-ES"/>
              <a:t>Out-of-bounds Write</a:t>
            </a:r>
            <a:br>
              <a:rPr lang="es-ES"/>
            </a:br>
            <a:r>
              <a:rPr lang="es-ES"/>
              <a:t>Escritura fuera de límites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824705"/>
            <a:ext cx="9144000" cy="662152"/>
          </a:xfrm>
        </p:spPr>
        <p:txBody>
          <a:bodyPr/>
          <a:lstStyle/>
          <a:p>
            <a:r>
              <a:rPr lang="en-GB" dirty="0">
                <a:ea typeface="Roboto Light"/>
              </a:rPr>
              <a:t>Desarrollo Seguro de Software</a:t>
            </a:r>
            <a:r>
              <a:rPr lang="en-GB" b="1" dirty="0">
                <a:ea typeface="Roboto Light"/>
              </a:rPr>
              <a:t>  ·  Juan Ignacio Mato</a:t>
            </a:r>
            <a:r>
              <a:rPr lang="en-GB" dirty="0">
                <a:ea typeface="Roboto Light"/>
              </a:rPr>
              <a:t> </a:t>
            </a:r>
            <a:r>
              <a:rPr lang="en-GB" b="1">
                <a:ea typeface="Roboto Light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3508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0B9B9-EDD3-C6F3-5573-66262FB8B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0F25AB-D1BC-1094-A8DE-1C9DC250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"/>
              </a:rPr>
              <a:t>Escribir fuera de los límites del buffer reservado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8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420F16-FDCD-3DB4-C784-C5270481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>
                <a:solidFill>
                  <a:srgbClr val="000000"/>
                </a:solidFill>
                <a:latin typeface="Gill Sans"/>
              </a:rPr>
              <a:t>Out-of-bounds Write</a:t>
            </a:r>
            <a:r>
              <a:rPr lang="es-UY">
                <a:solidFill>
                  <a:srgbClr val="000000"/>
                </a:solidFill>
                <a:latin typeface="Gill Sans"/>
              </a:rPr>
              <a:t/>
            </a:r>
            <a:endParaRPr lang="en-US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05151BF4-3DA4-86DE-D6DB-D328DD12A4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92892068"/>
              </p:ext>
            </p:extLst>
          </p:nvPr>
        </p:nvGraphicFramePr>
        <p:xfrm>
          <a:off x="310861" y="1177290"/>
          <a:ext cx="11570275" cy="28651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771399">
                  <a:extLst>
                    <a:ext uri="{9D8B030D-6E8A-4147-A177-3AD203B41FA5}">
                      <a16:colId xmlns:a16="http://schemas.microsoft.com/office/drawing/2014/main" val="350637318"/>
                    </a:ext>
                  </a:extLst>
                </a:gridCol>
                <a:gridCol w="8798876">
                  <a:extLst>
                    <a:ext uri="{9D8B030D-6E8A-4147-A177-3AD203B41FA5}">
                      <a16:colId xmlns:a16="http://schemas.microsoft.com/office/drawing/2014/main" val="364526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UY" sz="1200" dirty="0">
                          <a:latin typeface="Calibri"/>
                          <a:cs typeface="Calibri"/>
                        </a:rPr>
                        <a:t xml:space="preserve">Escritura fuera de límites (Out-of-bounds Write) — CWE-787.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15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Resumen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UY" sz="1200" dirty="0">
                          <a:latin typeface="Calibri"/>
                          <a:cs typeface="Calibri"/>
                        </a:rPr>
                        <a:t xml:space="preserve">El software escribe datos más allá del final (o antes del comienzo) del buffer reservado, corrompiendo la memoria adyacente.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463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Descripción extendida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UY" sz="1200" dirty="0">
                          <a:latin typeface="Calibri"/>
                          <a:cs typeface="Calibri"/>
                        </a:rPr>
                        <a:t xml:space="preserve">Ocurre al no validar el tamaño o el índice antes de escribir. La escritura cae en memoria que no corresponde —variables vecinas, dirección de retorno, metadatos— permitiendo corromper datos, cambiar el flujo del programa o ejecutar código.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09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Forma de introducción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UY" sz="1200" dirty="0">
                          <a:latin typeface="Calibri"/>
                          <a:cs typeface="Calibri"/>
                        </a:rPr>
                        <a:t xml:space="preserve">Funciones sin control de límites (strcpy, memcpy, sprintf, gets), índices o punteros calculados sin validar, y errores off-by-one en los tamaños. Típico en C/C++.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878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Mitigaciones potenciales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UY" sz="1200" dirty="0">
                          <a:latin typeface="Calibri"/>
                          <a:cs typeface="Calibri"/>
                        </a:rPr>
                        <a:t xml:space="preserve">Funciones acotadas (strncpy, snprintf) y validar longitud/índice; lenguajes memory-safe (Rust, Go); defensas del compilador (stack canaries, ASLR, FORTIFY_SOURCE) y sanitizers + fuzzing.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67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Consecuencias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UY" sz="1200" dirty="0">
                          <a:latin typeface="Calibri"/>
                          <a:cs typeface="Calibri"/>
                        </a:rPr>
                        <a:t xml:space="preserve">Corrupción de memoria y caídas (DoS); modificación de datos y de decisiones del programa; en el peor caso, ejecución de código arbitrario (RCE).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341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Plataformas aplicables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UY" sz="1200" dirty="0">
                          <a:latin typeface="Calibri"/>
                          <a:cs typeface="Calibri"/>
                        </a:rPr>
                        <a:t xml:space="preserve">Lenguajes sin gestión automática de memoria (C, C++, Assembly). Frecuente en firmware, embebidos, navegadores y librerías de parsing.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60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52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703-6A5C-8FE5-EEC1-BD95E0C9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>
                <a:latin typeface="Gill Sans"/>
              </a:rPr>
              <a:t>Demo en vivo</a:t>
            </a:r>
            <a:endParaRPr lang="es-UY" b="0">
              <a:latin typeface="Gill San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9E4BA-3685-53CE-FE72-DC093C46D1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es-UY" i="1">
                <a:latin typeface="Myriad Pro"/>
                <a:ea typeface="Roboto Light"/>
              </a:rPr>
              <a:t>DEMO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AA514-F393-E5E4-259C-201A4E92A820}"/>
              </a:ext>
            </a:extLst>
          </p:cNvPr>
          <p:cNvSpPr txBox="1"/>
          <p:nvPr/>
        </p:nvSpPr>
        <p:spPr>
          <a:xfrm>
            <a:off x="310862" y="6352143"/>
            <a:ext cx="60937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UY" dirty="0">
                <a:latin typeface="Myriad Pro"/>
                <a:ea typeface="Roboto Light"/>
                <a:hlinkClick r:id="rId3"/>
              </a:rPr>
              <a:t>localhost:8000</a:t>
            </a:r>
            <a:r>
              <a:rPr lang="es-UY">
                <a:latin typeface="Myriad Pro"/>
                <a:ea typeface="Roboto Light"/>
              </a:rPr>
              <a:t>     ·     TechStore (carpeta demo-cwe787/)</a:t>
            </a:r>
            <a:endParaRPr lang="es-U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EAFE98-412B-5666-2210-0A6AA4A7660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75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FBA0-E581-AA01-D8EF-0A621609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 xml:space="preserve">Qué pasa por detrás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CCB4C6-0EF8-92E1-C298-F57A54C667E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956975" y="1268082"/>
            <a:ext cx="5911025" cy="4787661"/>
          </a:xfrm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s-UY" sz="2000" b="1" dirty="0">
                <a:latin typeface="Calibri"/>
                <a:cs typeface="Calibri"/>
              </a:rPr>
              <a:t xml:space="preserve">Con el cupón malicioso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20 bytes “A” no entran en 16 → se desbordan.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Los 4 bytes sobrantes pisan discount_percent.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discount_percent = 1.094.795.585 % → total $0.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Nunca hubo un cupón válido: solo escribimos fuera de límite.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72B510-4AB8-ADCC-44B7-01F39726C8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algn="l">
              <a:buNone/>
            </a:pPr>
            <a:r>
              <a:rPr lang="es-UY" sz="2000" b="1" dirty="0">
                <a:latin typeface="Calibri"/>
                <a:cs typeface="Calibri"/>
              </a:rPr>
              <a:t xml:space="preserve">Estado normal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coupon[16] guarda el cupón; al lado, discount_percent = 0.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Cupón válido “SALE25” → descuento = 25 → total $900.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Todo queda dentro de los límites del buffer.</a:t>
            </a:r>
          </a:p>
        </p:txBody>
      </p:sp>
    </p:spTree>
    <p:extLst>
      <p:ext uri="{BB962C8B-B14F-4D97-AF65-F5344CB8AC3E}">
        <p14:creationId xmlns:p14="http://schemas.microsoft.com/office/powerpoint/2010/main" val="186809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6D29-1287-208D-9F23-9371B9EB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53AB-9EF0-1B01-D4C8-737DD54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 xml:space="preserve">Mitigaciones y recomendaciones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E48AD-067E-64AE-E77B-15D0BA83E9B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4339A09-DADD-9BA7-6271-ACF6C38FDB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274638" indent="-274638" algn="l">
              <a:buFont typeface="Arial"/>
              <a:buChar char="•"/>
            </a:pPr>
            <a:r>
              <a:rPr lang="es-UY" sz="1600" b="1" dirty="0">
                <a:latin typeface="Calibri"/>
                <a:cs typeface="Calibri"/>
              </a:rPr>
              <a:t xml:space="preserve">Funciones acotadas: </a:t>
            </a:r>
            <a:r>
              <a:rPr lang="es-UY" sz="1600" dirty="0">
                <a:latin typeface="Calibri"/>
                <a:cs typeface="Calibri"/>
              </a:rPr>
              <a:t xml:space="preserve">strncpy, snprintf, memcpy_s. Nunca strcpy / gets / sprintf.</a:t>
            </a:r>
          </a:p>
          <a:p>
            <a:pPr marL="274638" indent="-274638" algn="l">
              <a:buFont typeface="Arial"/>
              <a:buChar char="•"/>
            </a:pPr>
            <a:r>
              <a:rPr lang="es-UY" sz="1600" b="1" dirty="0">
                <a:latin typeface="Calibri"/>
                <a:cs typeface="Calibri"/>
              </a:rPr>
              <a:t xml:space="preserve">Validar SIEMPRE </a:t>
            </a:r>
            <a:r>
              <a:rPr lang="es-UY" sz="1600" dirty="0">
                <a:latin typeface="Calibri"/>
                <a:cs typeface="Calibri"/>
              </a:rPr>
              <a:t xml:space="preserve">la longitud y los índices antes de escribir.</a:t>
            </a:r>
          </a:p>
          <a:p>
            <a:pPr marL="274638" indent="-274638" algn="l">
              <a:buFont typeface="Arial"/>
              <a:buChar char="•"/>
            </a:pPr>
            <a:r>
              <a:rPr lang="es-UY" sz="1600" b="1" dirty="0">
                <a:latin typeface="Calibri"/>
                <a:cs typeface="Calibri"/>
              </a:rPr>
              <a:t xml:space="preserve">Lenguajes memory-safe: </a:t>
            </a:r>
            <a:r>
              <a:rPr lang="es-UY" sz="1600" dirty="0">
                <a:latin typeface="Calibri"/>
                <a:cs typeface="Calibri"/>
              </a:rPr>
              <a:t xml:space="preserve">Rust o Go; en C++ usar std::string y contenedores.</a:t>
            </a:r>
          </a:p>
          <a:p>
            <a:pPr marL="274638" indent="-274638" algn="l">
              <a:buFont typeface="Arial"/>
              <a:buChar char="•"/>
            </a:pPr>
            <a:r>
              <a:rPr lang="es-UY" sz="1600" b="1" dirty="0">
                <a:latin typeface="Calibri"/>
                <a:cs typeface="Calibri"/>
              </a:rPr>
              <a:t xml:space="preserve">Defensas en profundidad: </a:t>
            </a:r>
            <a:r>
              <a:rPr lang="es-UY" sz="1600" dirty="0">
                <a:latin typeface="Calibri"/>
                <a:cs typeface="Calibri"/>
              </a:rPr>
              <a:t xml:space="preserve">stack canaries, ASLR, DEP/NX, FORTIFY_SOURCE.</a:t>
            </a:r>
          </a:p>
          <a:p>
            <a:pPr marL="274638" indent="-274638" algn="l">
              <a:buFont typeface="Arial"/>
              <a:buChar char="•"/>
            </a:pPr>
            <a:r>
              <a:rPr lang="es-UY" sz="1600" b="1" dirty="0">
                <a:latin typeface="Calibri"/>
                <a:cs typeface="Calibri"/>
              </a:rPr>
              <a:t xml:space="preserve">Detección: </a:t>
            </a:r>
            <a:r>
              <a:rPr lang="es-UY" sz="1600" dirty="0">
                <a:latin typeface="Calibri"/>
                <a:cs typeface="Calibri"/>
              </a:rPr>
              <a:t xml:space="preserve">análisis estático, AddressSanitizer y fuzzing en el CI.</a:t>
            </a:r>
          </a:p>
        </p:txBody>
      </p:sp>
    </p:spTree>
    <p:extLst>
      <p:ext uri="{BB962C8B-B14F-4D97-AF65-F5344CB8AC3E}">
        <p14:creationId xmlns:p14="http://schemas.microsoft.com/office/powerpoint/2010/main" val="2448337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FBA0-E581-AA01-D8EF-0A621609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 xml:space="preserve">¿Cómo funciona?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CCB4C6-0EF8-92E1-C298-F57A54C667E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956975" y="1268082"/>
            <a:ext cx="5911025" cy="4787661"/>
          </a:xfrm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s-UY" sz="2000" b="1" dirty="0">
                <a:latin typeface="Calibri"/>
                <a:cs typeface="Calibri"/>
              </a:rPr>
              <a:t xml:space="preserve">¿Qué se puede pisar?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Otra variable: un precio, un flag “es admin”.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La dirección de retorno → redirigir la ejecución.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Punteros y metadatos del heap.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Resultado: desde datos corruptos y crashes hasta </a:t>
            </a:r>
            <a:r>
              <a:rPr lang="es-UY" sz="1500" b="1" dirty="0">
                <a:latin typeface="Calibri"/>
                <a:cs typeface="Calibri"/>
              </a:rPr>
              <a:t xml:space="preserve">ejecución de código (RCE)</a:t>
            </a:r>
            <a:r>
              <a:rPr lang="es-UY" sz="1500" dirty="0">
                <a:latin typeface="Calibri"/>
                <a:cs typeface="Calibri"/>
              </a:rPr>
              <a:t xml:space="preserve">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72B510-4AB8-ADCC-44B7-01F39726C8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algn="l">
              <a:buNone/>
            </a:pPr>
            <a:r>
              <a:rPr lang="es-UY" sz="2000" b="1" dirty="0">
                <a:latin typeface="Calibri"/>
                <a:cs typeface="Calibri"/>
              </a:rPr>
              <a:t xml:space="preserve">El mecanismo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Un buffer tiene un tamaño FIJO (ej.: 16 bytes).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En memoria, las variables viven pegadas una al lado de la otra.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Se copian más datos de los que entran y </a:t>
            </a:r>
            <a:r>
              <a:rPr lang="es-UY" sz="1500" b="1" dirty="0">
                <a:latin typeface="Calibri"/>
                <a:cs typeface="Calibri"/>
              </a:rPr>
              <a:t xml:space="preserve">nadie controla el límite</a:t>
            </a:r>
            <a:r>
              <a:rPr lang="es-UY" sz="1500" dirty="0">
                <a:latin typeface="Calibri"/>
                <a:cs typeface="Calibri"/>
              </a:rPr>
              <a:t xml:space="preserve">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La escritura se “desborda” y sigue pisando la memoria vecina.</a:t>
            </a:r>
          </a:p>
        </p:txBody>
      </p:sp>
    </p:spTree>
    <p:extLst>
      <p:ext uri="{BB962C8B-B14F-4D97-AF65-F5344CB8AC3E}">
        <p14:creationId xmlns:p14="http://schemas.microsoft.com/office/powerpoint/2010/main" val="1868092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FBA0-E581-AA01-D8EF-0A621609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 xml:space="preserve">Casos reales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CCB4C6-0EF8-92E1-C298-F57A54C667E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956975" y="1268082"/>
            <a:ext cx="5911025" cy="4787661"/>
          </a:xfrm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s-UY" sz="2000" b="1" dirty="0">
                <a:latin typeface="Calibri"/>
                <a:cs typeface="Calibri"/>
              </a:rPr>
              <a:t xml:space="preserve">El patrón de siempre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Buffer overflow clásico: un input largo pisa un flag de autorización o el return address (lo de la demo).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Aparece hace décadas y sigue #1: MITRE lo ubica como el CWE más peligroso.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dirty="0">
                <a:latin typeface="Calibri"/>
                <a:cs typeface="Calibri"/>
              </a:rPr>
              <a:t xml:space="preserve">Vive en librerías de C/C++ que están en todos lados: media, red, parsers.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72B510-4AB8-ADCC-44B7-01F39726C8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algn="l">
              <a:buNone/>
            </a:pPr>
            <a:r>
              <a:rPr lang="es-UY" sz="2000" b="1" dirty="0">
                <a:latin typeface="Calibri"/>
                <a:cs typeface="Calibri"/>
              </a:rPr>
              <a:t xml:space="preserve">En móviles (0-click)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b="1" dirty="0">
                <a:latin typeface="Calibri"/>
                <a:cs typeface="Calibri"/>
              </a:rPr>
              <a:t xml:space="preserve">FORCEDENTRY / Pegasus (2021):</a:t>
            </a:r>
          </a:p>
          <a:p>
            <a:pPr algn="l">
              <a:buNone/>
            </a:pPr>
            <a:r>
              <a:rPr lang="es-UY" sz="1300" dirty="0">
                <a:latin typeface="Calibri"/>
                <a:cs typeface="Calibri"/>
              </a:rPr>
              <a:t xml:space="preserve">OOB write en el decoder de imágenes JBIG2; comprometía un iPhone sin un solo click, vía iMessage.</a:t>
            </a:r>
          </a:p>
          <a:p>
            <a:pPr marL="274638" indent="-274638" algn="l">
              <a:buFont typeface="Arial"/>
              <a:buChar char="•"/>
            </a:pPr>
            <a:r>
              <a:rPr lang="es-UY" sz="1500" b="1" dirty="0">
                <a:latin typeface="Calibri"/>
                <a:cs typeface="Calibri"/>
              </a:rPr>
              <a:t xml:space="preserve">Stagefright (Android, 2015):</a:t>
            </a:r>
          </a:p>
          <a:p>
            <a:pPr algn="l">
              <a:buNone/>
            </a:pPr>
            <a:r>
              <a:rPr lang="es-UY" sz="1300" dirty="0">
                <a:latin typeface="Calibri"/>
                <a:cs typeface="Calibri"/>
              </a:rPr>
              <a:t xml:space="preserve">OOB write parseando video de un MMS; ~950 millones de dispositivos afectados.</a:t>
            </a:r>
          </a:p>
        </p:txBody>
      </p:sp>
    </p:spTree>
    <p:extLst>
      <p:ext uri="{BB962C8B-B14F-4D97-AF65-F5344CB8AC3E}">
        <p14:creationId xmlns:p14="http://schemas.microsoft.com/office/powerpoint/2010/main" val="1868092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FBA0-E581-AA01-D8EF-0A621609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 xml:space="preserve">El arreglo en el código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CCB4C6-0EF8-92E1-C298-F57A54C667E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956975" y="1268082"/>
            <a:ext cx="5911025" cy="4787661"/>
          </a:xfrm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s-UY" sz="2000" b="1" dirty="0">
                <a:latin typeface="Calibri"/>
                <a:cs typeface="Calibri"/>
              </a:rPr>
              <a:t xml:space="preserve">✅ Corregido</a:t>
            </a:r>
          </a:p>
          <a:p>
            <a:pPr algn="l">
              <a:buNone/>
            </a:pPr>
            <a:r>
              <a:rPr lang="es-UY" sz="1400" dirty="0">
                <a:latin typeface="Courier New"/>
                <a:cs typeface="Courier New"/>
              </a:rPr>
              <a:t xml:space="preserve">char coupon[16];</a:t>
            </a:r>
          </a:p>
          <a:p>
            <a:pPr algn="l">
              <a:buNone/>
            </a:pPr>
            <a:r>
              <a:rPr lang="es-UY" sz="1400" dirty="0">
                <a:latin typeface="Courier New"/>
                <a:cs typeface="Courier New"/>
              </a:rPr>
              <a:t xml:space="preserve">strncpy(coupon, entrada,</a:t>
            </a:r>
          </a:p>
          <a:p>
            <a:pPr algn="l">
              <a:buNone/>
            </a:pPr>
            <a:r>
              <a:rPr lang="es-UY" sz="1400" dirty="0">
                <a:latin typeface="Courier New"/>
                <a:cs typeface="Courier New"/>
              </a:rPr>
              <a:t xml:space="preserve">        sizeof(coupon)-1);</a:t>
            </a:r>
          </a:p>
          <a:p>
            <a:pPr algn="l">
              <a:buNone/>
            </a:pPr>
            <a:r>
              <a:rPr lang="es-UY" sz="1400" dirty="0">
                <a:latin typeface="Courier New"/>
                <a:cs typeface="Courier New"/>
              </a:rPr>
              <a:t xml:space="preserve">coupon[15] = 0;   // NUL final</a:t>
            </a:r>
          </a:p>
          <a:p>
            <a:pPr algn="l">
              <a:buNone/>
            </a:pPr>
            <a:r>
              <a:rPr lang="es-UY" sz="800" dirty="0">
                <a:latin typeface="Courier New"/>
                <a:cs typeface="Courier New"/>
              </a:rPr>
              <a:t xml:space="preserve"/>
            </a:r>
          </a:p>
          <a:p>
            <a:pPr algn="l">
              <a:buNone/>
            </a:pPr>
            <a:r>
              <a:rPr lang="es-UY" sz="1300" dirty="0">
                <a:latin typeface="Calibri"/>
                <a:cs typeface="Calibri"/>
              </a:rPr>
              <a:t xml:space="preserve">La copia está acotada al tamaño del buffer: nunca escribe fuera. El descuento queda intacto.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72B510-4AB8-ADCC-44B7-01F39726C8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algn="l">
              <a:buNone/>
            </a:pPr>
            <a:r>
              <a:rPr lang="es-UY" sz="2000" b="1" dirty="0">
                <a:latin typeface="Calibri"/>
                <a:cs typeface="Calibri"/>
              </a:rPr>
              <a:t xml:space="preserve">❌ Vulnerable</a:t>
            </a:r>
          </a:p>
          <a:p>
            <a:pPr algn="l">
              <a:buNone/>
            </a:pPr>
            <a:r>
              <a:rPr lang="es-UY" sz="1400" dirty="0">
                <a:latin typeface="Courier New"/>
                <a:cs typeface="Courier New"/>
              </a:rPr>
              <a:t xml:space="preserve">char coupon[16];</a:t>
            </a:r>
          </a:p>
          <a:p>
            <a:pPr algn="l">
              <a:buNone/>
            </a:pPr>
            <a:r>
              <a:rPr lang="es-UY" sz="1400" dirty="0">
                <a:latin typeface="Courier New"/>
                <a:cs typeface="Courier New"/>
              </a:rPr>
              <a:t xml:space="preserve">strcpy(coupon, entrada);</a:t>
            </a:r>
          </a:p>
          <a:p>
            <a:pPr algn="l">
              <a:buNone/>
            </a:pPr>
            <a:r>
              <a:rPr lang="es-UY" sz="800" dirty="0">
                <a:latin typeface="Courier New"/>
                <a:cs typeface="Courier New"/>
              </a:rPr>
              <a:t xml:space="preserve"/>
            </a:r>
          </a:p>
          <a:p>
            <a:pPr algn="l">
              <a:buNone/>
            </a:pPr>
            <a:r>
              <a:rPr lang="es-UY" sz="1300" dirty="0">
                <a:latin typeface="Calibri"/>
                <a:cs typeface="Calibri"/>
              </a:rPr>
              <a:t xml:space="preserve">Copia sin límite: si “entrada” supera 16 bytes, escribe fuera del buffer y pisa lo de al lado.</a:t>
            </a:r>
          </a:p>
        </p:txBody>
      </p:sp>
    </p:spTree>
    <p:extLst>
      <p:ext uri="{BB962C8B-B14F-4D97-AF65-F5344CB8AC3E}">
        <p14:creationId xmlns:p14="http://schemas.microsoft.com/office/powerpoint/2010/main" val="1868092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0B9B9-EDD3-C6F3-5573-66262FB8B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0F25AB-D1BC-1094-A8DE-1C9DC250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"/>
              </a:rPr>
              <a:t>¿Preguntas?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83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2.0-DSS-TEMPLATE SANS Top 25.pptx" id="{9CC88499-4DF2-4319-8A3D-BAF0512D9472}" vid="{B09C30F6-BB47-4EF6-A3FD-3F0DDC8E8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15cc93-823d-49e8-800c-c05db2f17c28" xsi:nil="true"/>
    <lcf76f155ced4ddcb4097134ff3c332f xmlns="bd4eda2a-3846-448a-b7a7-16e4dd1728c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8CA2CDEE0E8F4CACF6B95D3EF4C3B3" ma:contentTypeVersion="10" ma:contentTypeDescription="Create a new document." ma:contentTypeScope="" ma:versionID="73cc914fdf7996e7a618a83ebac81fd4">
  <xsd:schema xmlns:xsd="http://www.w3.org/2001/XMLSchema" xmlns:xs="http://www.w3.org/2001/XMLSchema" xmlns:p="http://schemas.microsoft.com/office/2006/metadata/properties" xmlns:ns2="bd4eda2a-3846-448a-b7a7-16e4dd1728c0" xmlns:ns3="b515cc93-823d-49e8-800c-c05db2f17c28" targetNamespace="http://schemas.microsoft.com/office/2006/metadata/properties" ma:root="true" ma:fieldsID="ca03da4c0f32a0ae05fe5bd68ee5a7b2" ns2:_="" ns3:_="">
    <xsd:import namespace="bd4eda2a-3846-448a-b7a7-16e4dd1728c0"/>
    <xsd:import namespace="b515cc93-823d-49e8-800c-c05db2f17c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eda2a-3846-448a-b7a7-16e4dd1728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765f979-277d-4bf9-9582-0bf89623a9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15cc93-823d-49e8-800c-c05db2f17c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af4886-9b19-465b-9e1f-37e13c7617fe}" ma:internalName="TaxCatchAll" ma:showField="CatchAllData" ma:web="b515cc93-823d-49e8-800c-c05db2f17c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BA519C-7729-414F-A3E6-40E37993701E}">
  <ds:schemaRefs>
    <ds:schemaRef ds:uri="http://purl.org/dc/terms/"/>
    <ds:schemaRef ds:uri="http://schemas.microsoft.com/office/2006/documentManagement/types"/>
    <ds:schemaRef ds:uri="b515cc93-823d-49e8-800c-c05db2f17c28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bd4eda2a-3846-448a-b7a7-16e4dd1728c0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7596A9-359D-4684-8B47-659099474EFA}"/>
</file>

<file path=customXml/itemProps3.xml><?xml version="1.0" encoding="utf-8"?>
<ds:datastoreItem xmlns:ds="http://schemas.openxmlformats.org/officeDocument/2006/customXml" ds:itemID="{67F3C360-5A75-47F3-9C9D-34508B1338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108</Words>
  <Application>Microsoft Office PowerPoint</Application>
  <PresentationFormat>Panorámica</PresentationFormat>
  <Paragraphs>25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Gill Sans</vt:lpstr>
      <vt:lpstr>Myriad Pro</vt:lpstr>
      <vt:lpstr>Roboto Light</vt:lpstr>
      <vt:lpstr>Tema de Office</vt:lpstr>
      <vt:lpstr>Desarrollo Seguro de Software CWE/SANS TOP 25</vt:lpstr>
      <vt:lpstr>&lt;Nombre del Punto&gt;</vt:lpstr>
      <vt:lpstr>&lt;Nombre del Punto&gt; - En Inglés</vt:lpstr>
      <vt:lpstr>&lt;Nombre del Punto&gt; - En Inglés</vt:lpstr>
      <vt:lpstr>&lt;Nombre del Punto&gt; - En Inglés </vt:lpstr>
      <vt:lpstr>&lt;Nombre del Punto&gt; - En Inglés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GERARDO CANEDO</dc:creator>
  <cp:lastModifiedBy>GERARDO CANEDO</cp:lastModifiedBy>
  <cp:revision>57</cp:revision>
  <dcterms:created xsi:type="dcterms:W3CDTF">2025-08-25T17:24:51Z</dcterms:created>
  <dcterms:modified xsi:type="dcterms:W3CDTF">2026-08-16T01:17:08Z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0x0101006F8CA2CDEE0E8F4CACF6B95D3EF4C3B3</vt:lpwstr>
  </property>
  <property fmtid="{D5CDD505-2E9C-101B-9397-08002B2CF9AE}" pid="3" name="Area">
    <vt:lpwstr/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